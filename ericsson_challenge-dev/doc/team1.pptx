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 Prompt Libero a Spec-Driven — Cosa Cambia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b="1" dirty="0"/>
              <a:t>Prima: </a:t>
            </a:r>
            <a:r>
              <a:rPr sz="2400" dirty="0"/>
              <a:t>'</a:t>
            </a:r>
            <a:r>
              <a:rPr sz="2400" dirty="0" err="1"/>
              <a:t>Aggiungi</a:t>
            </a:r>
            <a:r>
              <a:rPr sz="2400" dirty="0"/>
              <a:t> </a:t>
            </a:r>
            <a:r>
              <a:rPr sz="2400" dirty="0" err="1"/>
              <a:t>questa</a:t>
            </a:r>
            <a:r>
              <a:rPr sz="2400" dirty="0"/>
              <a:t> feature' → output </a:t>
            </a:r>
            <a:r>
              <a:rPr sz="2400" dirty="0" err="1"/>
              <a:t>imprevedibile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b="1" dirty="0"/>
              <a:t>Dopo:  </a:t>
            </a:r>
            <a:r>
              <a:rPr sz="2400" dirty="0"/>
              <a:t>Requirements → Design → Tasks → </a:t>
            </a:r>
            <a:r>
              <a:rPr sz="2400" dirty="0" err="1"/>
              <a:t>Codice</a:t>
            </a:r>
            <a:r>
              <a:rPr sz="2400" dirty="0"/>
              <a:t> → Test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💡 </a:t>
            </a:r>
            <a:r>
              <a:rPr sz="2400" b="1" dirty="0" err="1"/>
              <a:t>Momento</a:t>
            </a:r>
            <a:r>
              <a:rPr sz="2400" b="1" dirty="0"/>
              <a:t> Aha: </a:t>
            </a:r>
            <a:r>
              <a:rPr sz="2400" dirty="0"/>
              <a:t>MCP Server in 30 </a:t>
            </a:r>
            <a:r>
              <a:rPr sz="2400" dirty="0" err="1"/>
              <a:t>minuti</a:t>
            </a:r>
            <a:r>
              <a:rPr sz="2400" dirty="0"/>
              <a:t>, </a:t>
            </a:r>
            <a:r>
              <a:rPr sz="2400" dirty="0" err="1"/>
              <a:t>funzionante</a:t>
            </a:r>
            <a:r>
              <a:rPr sz="2400" dirty="0"/>
              <a:t>!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 La spec ha </a:t>
            </a:r>
            <a:r>
              <a:rPr sz="2400" dirty="0" err="1"/>
              <a:t>dato</a:t>
            </a:r>
            <a:r>
              <a:rPr sz="2400" dirty="0"/>
              <a:t> a Kiro il </a:t>
            </a:r>
            <a:r>
              <a:rPr sz="2400" dirty="0" err="1"/>
              <a:t>contesto</a:t>
            </a:r>
            <a:r>
              <a:rPr sz="2400" dirty="0"/>
              <a:t> GIUSTO.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lang="it-IT"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lang="it-IT" sz="2400" b="1" dirty="0"/>
              <a:t>Wow: </a:t>
            </a:r>
            <a:r>
              <a:rPr lang="it-IT" sz="2400" dirty="0"/>
              <a:t>sia </a:t>
            </a:r>
            <a:r>
              <a:rPr lang="it-IT" sz="2400" dirty="0" err="1"/>
              <a:t>spec</a:t>
            </a:r>
            <a:r>
              <a:rPr lang="it-IT" sz="2400" dirty="0"/>
              <a:t> </a:t>
            </a:r>
            <a:r>
              <a:rPr lang="it-IT" sz="2400" dirty="0" err="1"/>
              <a:t>driven</a:t>
            </a:r>
            <a:r>
              <a:rPr lang="it-IT" sz="2400" dirty="0"/>
              <a:t> con prompt, sia con agent singoli o con agent orchestrator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b="1" dirty="0" err="1"/>
              <a:t>Risultati</a:t>
            </a:r>
            <a:r>
              <a:rPr sz="2400" dirty="0"/>
              <a:t> in 2,5 </a:t>
            </a:r>
            <a:r>
              <a:rPr sz="2400" dirty="0" err="1"/>
              <a:t>giorni</a:t>
            </a:r>
            <a:r>
              <a:rPr sz="2400" dirty="0"/>
              <a:t>: 6 UC, 12 vuln </a:t>
            </a:r>
            <a:r>
              <a:rPr sz="2400" dirty="0" err="1"/>
              <a:t>risolte</a:t>
            </a:r>
            <a:r>
              <a:rPr sz="2400" dirty="0"/>
              <a:t>,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4 MCP server, 8 </a:t>
            </a:r>
            <a:r>
              <a:rPr sz="2400" dirty="0" err="1"/>
              <a:t>agenti</a:t>
            </a:r>
            <a:r>
              <a:rPr sz="2400" dirty="0"/>
              <a:t> </a:t>
            </a:r>
            <a:r>
              <a:rPr sz="2400" dirty="0" err="1"/>
              <a:t>definiti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b="1" dirty="0"/>
              <a:t>Stima: </a:t>
            </a:r>
            <a:r>
              <a:rPr sz="2400" dirty="0" err="1"/>
              <a:t>settimane</a:t>
            </a:r>
            <a:r>
              <a:rPr sz="2400" dirty="0"/>
              <a:t> di </a:t>
            </a:r>
            <a:r>
              <a:rPr sz="2400" dirty="0" err="1"/>
              <a:t>lavoro</a:t>
            </a:r>
            <a:r>
              <a:rPr sz="2400" dirty="0"/>
              <a:t> </a:t>
            </a:r>
            <a:r>
              <a:rPr sz="2400" dirty="0" err="1"/>
              <a:t>compresse</a:t>
            </a:r>
            <a:r>
              <a:rPr sz="2400" dirty="0"/>
              <a:t>.</a:t>
            </a:r>
          </a:p>
        </p:txBody>
      </p:sp>
      <p:pic>
        <p:nvPicPr>
          <p:cNvPr id="1026" name="Picture 2" descr="The Blues Brothers citazioni e dialoghi | non son solo film - John Landis">
            <a:extLst>
              <a:ext uri="{FF2B5EF4-FFF2-40B4-BE49-F238E27FC236}">
                <a16:creationId xmlns:a16="http://schemas.microsoft.com/office/drawing/2014/main" id="{8E3A6852-6227-82B9-4F3C-55C9ED2E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40" y="3011838"/>
            <a:ext cx="3190241" cy="168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Governance — Controllo senza Burocrazia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✋ Mai </a:t>
            </a:r>
            <a:r>
              <a:rPr sz="2400" dirty="0" err="1"/>
              <a:t>usato</a:t>
            </a:r>
            <a:r>
              <a:rPr sz="2400" dirty="0"/>
              <a:t> 't' (trust all) — sempre human-in-the-loop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✋ Two-step approval sempre </a:t>
            </a:r>
            <a:r>
              <a:rPr sz="2400" dirty="0" err="1"/>
              <a:t>attivo</a:t>
            </a:r>
            <a:r>
              <a:rPr sz="2400" dirty="0"/>
              <a:t> per query DB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 guardrails </a:t>
            </a:r>
            <a:r>
              <a:rPr sz="2400" dirty="0" err="1"/>
              <a:t>hanno</a:t>
            </a:r>
            <a:r>
              <a:rPr sz="2400" dirty="0"/>
              <a:t> </a:t>
            </a:r>
            <a:r>
              <a:rPr sz="2400" dirty="0" err="1"/>
              <a:t>guidato</a:t>
            </a:r>
            <a:r>
              <a:rPr sz="2400" dirty="0"/>
              <a:t> lo </a:t>
            </a:r>
            <a:r>
              <a:rPr sz="2400" dirty="0" err="1"/>
              <a:t>sviluppo</a:t>
            </a:r>
            <a:r>
              <a:rPr sz="2400"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</a:t>
            </a:r>
            <a:r>
              <a:rPr sz="2400" dirty="0" err="1"/>
              <a:t>Nessuna</a:t>
            </a:r>
            <a:r>
              <a:rPr sz="2400" dirty="0"/>
              <a:t> </a:t>
            </a:r>
            <a:r>
              <a:rPr sz="2400" dirty="0" err="1"/>
              <a:t>dipendenza</a:t>
            </a:r>
            <a:r>
              <a:rPr sz="2400" dirty="0"/>
              <a:t> senza </a:t>
            </a:r>
            <a:r>
              <a:rPr sz="2400" dirty="0" err="1"/>
              <a:t>approvazione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</a:t>
            </a:r>
            <a:r>
              <a:rPr sz="2400" dirty="0" err="1"/>
              <a:t>Credenziali</a:t>
            </a:r>
            <a:r>
              <a:rPr sz="2400" dirty="0"/>
              <a:t> </a:t>
            </a:r>
            <a:r>
              <a:rPr sz="2400" dirty="0" err="1"/>
              <a:t>mai</a:t>
            </a:r>
            <a:r>
              <a:rPr sz="2400" dirty="0"/>
              <a:t> </a:t>
            </a:r>
            <a:r>
              <a:rPr sz="2400" dirty="0" err="1"/>
              <a:t>nel</a:t>
            </a:r>
            <a:r>
              <a:rPr sz="2400" dirty="0"/>
              <a:t> </a:t>
            </a:r>
            <a:r>
              <a:rPr sz="2400" dirty="0" err="1"/>
              <a:t>codice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Pattern </a:t>
            </a:r>
            <a:r>
              <a:rPr sz="2400" dirty="0" err="1"/>
              <a:t>architetturale</a:t>
            </a:r>
            <a:r>
              <a:rPr sz="2400" dirty="0"/>
              <a:t> </a:t>
            </a:r>
            <a:r>
              <a:rPr sz="2400" dirty="0" err="1"/>
              <a:t>preservato</a:t>
            </a:r>
            <a:r>
              <a:rPr lang="it-IT" sz="2400" dirty="0"/>
              <a:t> automaticamente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Non </a:t>
            </a:r>
            <a:r>
              <a:rPr sz="2400" dirty="0" err="1"/>
              <a:t>limitano</a:t>
            </a:r>
            <a:r>
              <a:rPr sz="2400" dirty="0"/>
              <a:t> — </a:t>
            </a:r>
            <a:r>
              <a:rPr sz="2400" dirty="0" err="1"/>
              <a:t>prevengono</a:t>
            </a:r>
            <a:r>
              <a:rPr sz="2400" dirty="0"/>
              <a:t> le derive.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Il team </a:t>
            </a:r>
            <a:r>
              <a:rPr sz="2400" dirty="0" err="1"/>
              <a:t>mantiene</a:t>
            </a:r>
            <a:r>
              <a:rPr sz="2400" dirty="0"/>
              <a:t> </a:t>
            </a:r>
            <a:r>
              <a:rPr sz="2400" dirty="0" err="1"/>
              <a:t>controllo</a:t>
            </a:r>
            <a:r>
              <a:rPr lang="it-IT" sz="2400" dirty="0"/>
              <a:t> e comprensione</a:t>
            </a:r>
            <a:br>
              <a:rPr lang="it-IT" sz="2400" dirty="0"/>
            </a:br>
            <a:r>
              <a:rPr sz="2400" dirty="0" err="1"/>
              <a:t>su</a:t>
            </a:r>
            <a:r>
              <a:rPr sz="2400" dirty="0"/>
              <a:t> ogni </a:t>
            </a:r>
            <a:r>
              <a:rPr sz="2400" dirty="0" err="1"/>
              <a:t>decisione</a:t>
            </a:r>
            <a:r>
              <a:rPr sz="2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D68FE-3467-2C38-5198-3DD41E951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609" y="4118970"/>
            <a:ext cx="3705742" cy="1971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4C50FE-6D67-AF86-4983-06193615367A}"/>
              </a:ext>
            </a:extLst>
          </p:cNvPr>
          <p:cNvSpPr/>
          <p:nvPr/>
        </p:nvSpPr>
        <p:spPr>
          <a:xfrm>
            <a:off x="7969542" y="4181615"/>
            <a:ext cx="957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00B050"/>
                </a:solidFill>
                <a:effectLst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2DD46-FFF9-0B43-1256-8C8D87E79FED}"/>
              </a:ext>
            </a:extLst>
          </p:cNvPr>
          <p:cNvSpPr txBox="1"/>
          <p:nvPr/>
        </p:nvSpPr>
        <p:spPr>
          <a:xfrm>
            <a:off x="8197183" y="445861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❌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Quando l'AI Sbaglia — E Cosa Abbiamo Imparato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977" y="1371600"/>
            <a:ext cx="947767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Problemi</a:t>
            </a:r>
            <a:r>
              <a:rPr sz="2400" dirty="0"/>
              <a:t> di environment (JDK 25 vs Lombok</a:t>
            </a:r>
            <a:r>
              <a:rPr lang="it-IT" sz="2400" dirty="0"/>
              <a:t>, porte, </a:t>
            </a:r>
            <a:r>
              <a:rPr lang="it-IT" sz="2400" dirty="0" err="1"/>
              <a:t>path</a:t>
            </a:r>
            <a:r>
              <a:rPr lang="it-IT" sz="2400" dirty="0"/>
              <a:t>, </a:t>
            </a:r>
            <a:r>
              <a:rPr lang="it-IT" sz="2400" dirty="0" err="1"/>
              <a:t>docker</a:t>
            </a:r>
            <a:r>
              <a:rPr sz="2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L'AI non </a:t>
            </a:r>
            <a:r>
              <a:rPr sz="2400" dirty="0" err="1"/>
              <a:t>conosce</a:t>
            </a:r>
            <a:r>
              <a:rPr sz="2400" dirty="0"/>
              <a:t> il TUO </a:t>
            </a:r>
            <a:r>
              <a:rPr sz="2400" dirty="0" err="1"/>
              <a:t>ambiente</a:t>
            </a:r>
            <a:r>
              <a:rPr lang="it-IT" sz="2400" dirty="0"/>
              <a:t> </a:t>
            </a:r>
            <a:r>
              <a:rPr lang="en-US" sz="2400" dirty="0"/>
              <a:t>— serve </a:t>
            </a:r>
            <a:r>
              <a:rPr lang="en-US" sz="2400" dirty="0" err="1"/>
              <a:t>supervisione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Requisiti</a:t>
            </a:r>
            <a:r>
              <a:rPr sz="2400" dirty="0"/>
              <a:t> </a:t>
            </a:r>
            <a:r>
              <a:rPr sz="2400" dirty="0" err="1"/>
              <a:t>mancanti</a:t>
            </a:r>
            <a:r>
              <a:rPr sz="2400" dirty="0"/>
              <a:t> (</a:t>
            </a:r>
            <a:r>
              <a:rPr sz="2400" dirty="0" err="1"/>
              <a:t>createFirstUser</a:t>
            </a:r>
            <a:r>
              <a:rPr sz="2400" dirty="0"/>
              <a:t> senza check</a:t>
            </a:r>
            <a:r>
              <a:rPr lang="it-IT" sz="2400" dirty="0"/>
              <a:t> DB</a:t>
            </a:r>
            <a:r>
              <a:rPr sz="2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L'AI non </a:t>
            </a:r>
            <a:r>
              <a:rPr sz="2400" dirty="0" err="1"/>
              <a:t>inventa</a:t>
            </a:r>
            <a:r>
              <a:rPr sz="2400" dirty="0"/>
              <a:t> business logic</a:t>
            </a:r>
            <a:r>
              <a:rPr lang="it-IT" sz="2400" dirty="0"/>
              <a:t> — il team la definisce nella </a:t>
            </a:r>
            <a:r>
              <a:rPr lang="it-IT" sz="2400" dirty="0" err="1"/>
              <a:t>spec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Qualità</a:t>
            </a:r>
            <a:r>
              <a:rPr sz="2400" dirty="0"/>
              <a:t> </a:t>
            </a:r>
            <a:r>
              <a:rPr sz="2400" dirty="0" err="1"/>
              <a:t>variabile</a:t>
            </a:r>
            <a:r>
              <a:rPr sz="2400" dirty="0"/>
              <a:t> per </a:t>
            </a:r>
            <a:r>
              <a:rPr sz="2400" dirty="0" err="1"/>
              <a:t>modello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Switch a Claude 4.6: output </a:t>
            </a:r>
            <a:r>
              <a:rPr sz="2400" dirty="0" err="1"/>
              <a:t>più</a:t>
            </a:r>
            <a:r>
              <a:rPr sz="2400" dirty="0"/>
              <a:t> </a:t>
            </a:r>
            <a:r>
              <a:rPr sz="2400" dirty="0" err="1"/>
              <a:t>preciso</a:t>
            </a:r>
            <a:r>
              <a:rPr lang="it-IT" sz="2400" dirty="0"/>
              <a:t> e completo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 err="1"/>
              <a:t>Lezione</a:t>
            </a:r>
            <a:r>
              <a:rPr sz="2400" dirty="0"/>
              <a:t>: </a:t>
            </a:r>
            <a:r>
              <a:rPr sz="2400" dirty="0" err="1"/>
              <a:t>l'AI</a:t>
            </a:r>
            <a:r>
              <a:rPr sz="2400" dirty="0"/>
              <a:t> </a:t>
            </a:r>
            <a:r>
              <a:rPr sz="2400" dirty="0" err="1"/>
              <a:t>amplifica</a:t>
            </a:r>
            <a:r>
              <a:rPr sz="2400" dirty="0"/>
              <a:t> la </a:t>
            </a:r>
            <a:r>
              <a:rPr sz="2400" dirty="0" err="1"/>
              <a:t>qualità</a:t>
            </a:r>
            <a:r>
              <a:rPr sz="2400" dirty="0"/>
              <a:t> </a:t>
            </a:r>
            <a:r>
              <a:rPr sz="2400" dirty="0" err="1"/>
              <a:t>dell'input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Spec </a:t>
            </a:r>
            <a:r>
              <a:rPr sz="2400" dirty="0" err="1"/>
              <a:t>chiara</a:t>
            </a:r>
            <a:r>
              <a:rPr sz="2400" dirty="0"/>
              <a:t> = </a:t>
            </a:r>
            <a:r>
              <a:rPr sz="2400" dirty="0" err="1"/>
              <a:t>codice</a:t>
            </a:r>
            <a:r>
              <a:rPr sz="2400" dirty="0"/>
              <a:t> </a:t>
            </a:r>
            <a:r>
              <a:rPr sz="2400" dirty="0" err="1"/>
              <a:t>buono</a:t>
            </a:r>
            <a:r>
              <a:rPr sz="2400" dirty="0"/>
              <a:t>. Spec </a:t>
            </a:r>
            <a:r>
              <a:rPr sz="2400" dirty="0" err="1"/>
              <a:t>vaga</a:t>
            </a:r>
            <a:r>
              <a:rPr sz="2400" dirty="0"/>
              <a:t> = bug veloce.</a:t>
            </a:r>
          </a:p>
        </p:txBody>
      </p:sp>
      <p:pic>
        <p:nvPicPr>
          <p:cNvPr id="2050" name="Picture 2" descr="L'IA può sbagliare, ma chi è davvero il riflesso di chi?">
            <a:extLst>
              <a:ext uri="{FF2B5EF4-FFF2-40B4-BE49-F238E27FC236}">
                <a16:creationId xmlns:a16="http://schemas.microsoft.com/office/drawing/2014/main" id="{647C8DA8-EEF5-9D2C-A1F0-A5A18F934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600" y="4203144"/>
            <a:ext cx="3859672" cy="21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Due UC a Confronto — Approcci Diversi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371600"/>
            <a:ext cx="877182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🔒 UC-S-003 — </a:t>
            </a:r>
            <a:r>
              <a:rPr sz="2400" dirty="0" err="1"/>
              <a:t>createFirstUser</a:t>
            </a:r>
            <a:r>
              <a:rPr sz="2400" dirty="0"/>
              <a:t> </a:t>
            </a:r>
            <a:r>
              <a:rPr sz="2400" dirty="0" err="1"/>
              <a:t>pubblico</a:t>
            </a:r>
            <a:r>
              <a:rPr sz="2400" dirty="0"/>
              <a:t> (Security)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</a:t>
            </a:r>
            <a:r>
              <a:rPr sz="2400" dirty="0" err="1"/>
              <a:t>Manuale</a:t>
            </a:r>
            <a:r>
              <a:rPr sz="2400" dirty="0"/>
              <a:t> spec/prompt </a:t>
            </a:r>
            <a:r>
              <a:rPr lang="it-IT" sz="2400" dirty="0"/>
              <a:t>vs. </a:t>
            </a:r>
            <a:r>
              <a:rPr sz="2400" dirty="0"/>
              <a:t>agent in </a:t>
            </a:r>
            <a:r>
              <a:rPr sz="2400" dirty="0" err="1"/>
              <a:t>parallelo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Agent produce </a:t>
            </a:r>
            <a:r>
              <a:rPr sz="2400" dirty="0" err="1"/>
              <a:t>risultato</a:t>
            </a:r>
            <a:r>
              <a:rPr sz="2400" dirty="0"/>
              <a:t> </a:t>
            </a:r>
            <a:r>
              <a:rPr sz="2400" dirty="0" err="1"/>
              <a:t>equivalente</a:t>
            </a:r>
            <a:r>
              <a:rPr sz="2400" dirty="0"/>
              <a:t> in </a:t>
            </a:r>
            <a:r>
              <a:rPr lang="it-IT" sz="2400" dirty="0"/>
              <a:t>minor </a:t>
            </a:r>
            <a:r>
              <a:rPr sz="2400" dirty="0"/>
              <a:t>tempo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📊 UC-MCP-003 — </a:t>
            </a:r>
            <a:r>
              <a:rPr lang="it-IT" sz="2400" dirty="0"/>
              <a:t>MCP </a:t>
            </a:r>
            <a:r>
              <a:rPr sz="2400" dirty="0"/>
              <a:t>Metrics</a:t>
            </a:r>
            <a:r>
              <a:rPr lang="it-IT" sz="2400" dirty="0"/>
              <a:t> server</a:t>
            </a:r>
            <a:r>
              <a:rPr sz="2400" dirty="0"/>
              <a:t> + Vulnerability Pipeline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Full agent: vuln analysis → report pre-fix →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bugfix → report post-fix → Prometheus stats</a:t>
            </a:r>
            <a:br>
              <a:rPr lang="it-IT" sz="2400" dirty="0"/>
            </a:br>
            <a:r>
              <a:rPr lang="it-IT" sz="2400" dirty="0"/>
              <a:t> → Integrazione Prometheus </a:t>
            </a:r>
            <a:r>
              <a:rPr lang="it-IT" sz="2400" dirty="0" err="1"/>
              <a:t>stats</a:t>
            </a:r>
            <a:r>
              <a:rPr lang="it-IT" sz="2400" dirty="0"/>
              <a:t> dall'endpoint </a:t>
            </a:r>
            <a:r>
              <a:rPr lang="it-IT" sz="2400" dirty="0" err="1"/>
              <a:t>Actuator</a:t>
            </a:r>
            <a:r>
              <a:rPr lang="it-IT" sz="2400" dirty="0"/>
              <a:t> dell'app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</a:t>
            </a:r>
            <a:r>
              <a:rPr sz="2400" dirty="0" err="1"/>
              <a:t>Dall'idea</a:t>
            </a:r>
            <a:r>
              <a:rPr sz="2400" dirty="0"/>
              <a:t> al server </a:t>
            </a:r>
            <a:r>
              <a:rPr sz="2400" dirty="0" err="1"/>
              <a:t>funzionante</a:t>
            </a:r>
            <a:r>
              <a:rPr sz="2400" dirty="0"/>
              <a:t> in tempi record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 err="1"/>
              <a:t>L'agent</a:t>
            </a:r>
            <a:r>
              <a:rPr sz="2400" dirty="0"/>
              <a:t> </a:t>
            </a:r>
            <a:r>
              <a:rPr sz="2400" dirty="0" err="1"/>
              <a:t>eccelle</a:t>
            </a:r>
            <a:r>
              <a:rPr sz="2400" dirty="0"/>
              <a:t> con pipeline </a:t>
            </a:r>
            <a:r>
              <a:rPr sz="2400" dirty="0" err="1"/>
              <a:t>chiare</a:t>
            </a:r>
            <a:r>
              <a:rPr sz="2400" dirty="0"/>
              <a:t> e </a:t>
            </a:r>
            <a:r>
              <a:rPr sz="2400" dirty="0" err="1"/>
              <a:t>sequenziali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Il </a:t>
            </a:r>
            <a:r>
              <a:rPr sz="2400" dirty="0" err="1"/>
              <a:t>controllo</a:t>
            </a:r>
            <a:r>
              <a:rPr sz="2400" dirty="0"/>
              <a:t> </a:t>
            </a:r>
            <a:r>
              <a:rPr sz="2400" dirty="0" err="1"/>
              <a:t>umano</a:t>
            </a:r>
            <a:r>
              <a:rPr sz="2400" dirty="0"/>
              <a:t> </a:t>
            </a:r>
            <a:r>
              <a:rPr sz="2400" dirty="0" err="1"/>
              <a:t>valida</a:t>
            </a:r>
            <a:r>
              <a:rPr sz="2400" dirty="0"/>
              <a:t> </a:t>
            </a:r>
            <a:r>
              <a:rPr sz="2400" dirty="0" err="1"/>
              <a:t>requisiti</a:t>
            </a:r>
            <a:r>
              <a:rPr sz="2400" dirty="0"/>
              <a:t>, non scrive </a:t>
            </a:r>
            <a:r>
              <a:rPr sz="2400" dirty="0" err="1"/>
              <a:t>codice</a:t>
            </a:r>
            <a:r>
              <a:rPr sz="2400" dirty="0"/>
              <a:t>.</a:t>
            </a:r>
          </a:p>
        </p:txBody>
      </p:sp>
      <p:pic>
        <p:nvPicPr>
          <p:cNvPr id="3074" name="Picture 2" descr="Menu Del Ristorante Con Il Listino Prezzi E La Forcella Illustrazione ...">
            <a:extLst>
              <a:ext uri="{FF2B5EF4-FFF2-40B4-BE49-F238E27FC236}">
                <a16:creationId xmlns:a16="http://schemas.microsoft.com/office/drawing/2014/main" id="{CD62EF7D-5951-48C8-40D3-8E29F2CAA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919" y="1371600"/>
            <a:ext cx="3589081" cy="294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Spec-Driven = Collaborazione Naturale con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371600"/>
            <a:ext cx="9654139" cy="539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Le spec .</a:t>
            </a:r>
            <a:r>
              <a:rPr sz="2400" dirty="0" err="1"/>
              <a:t>kiro</a:t>
            </a:r>
            <a:r>
              <a:rPr sz="2400" dirty="0"/>
              <a:t>/ </a:t>
            </a:r>
            <a:r>
              <a:rPr sz="2400" dirty="0" err="1"/>
              <a:t>sono</a:t>
            </a:r>
            <a:r>
              <a:rPr sz="2400" dirty="0"/>
              <a:t> file di testo </a:t>
            </a:r>
            <a:r>
              <a:rPr sz="2400" dirty="0" err="1"/>
              <a:t>nel</a:t>
            </a:r>
            <a:r>
              <a:rPr sz="2400" dirty="0"/>
              <a:t> repository: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git push → </a:t>
            </a:r>
            <a:r>
              <a:rPr sz="2400" dirty="0" err="1"/>
              <a:t>condividi</a:t>
            </a:r>
            <a:r>
              <a:rPr sz="2400" dirty="0"/>
              <a:t> </a:t>
            </a:r>
            <a:r>
              <a:rPr sz="2400" dirty="0" err="1"/>
              <a:t>requisiti</a:t>
            </a:r>
            <a:r>
              <a:rPr sz="2400" dirty="0"/>
              <a:t>, design, guardrails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git pull → </a:t>
            </a:r>
            <a:r>
              <a:rPr sz="2400" dirty="0" err="1"/>
              <a:t>contesto</a:t>
            </a:r>
            <a:r>
              <a:rPr sz="2400" dirty="0"/>
              <a:t> </a:t>
            </a:r>
            <a:r>
              <a:rPr sz="2400" dirty="0" err="1"/>
              <a:t>aggiornato</a:t>
            </a:r>
            <a:r>
              <a:rPr sz="2400" dirty="0"/>
              <a:t> per </a:t>
            </a:r>
            <a:r>
              <a:rPr sz="2400" dirty="0" err="1"/>
              <a:t>tutto</a:t>
            </a:r>
            <a:r>
              <a:rPr sz="2400" dirty="0"/>
              <a:t> il team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lang="it-IT"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🤞 Configuration control: </a:t>
            </a:r>
            <a:r>
              <a:rPr sz="2400" dirty="0" err="1"/>
              <a:t>decisioni</a:t>
            </a:r>
            <a:r>
              <a:rPr sz="2400" dirty="0"/>
              <a:t> </a:t>
            </a:r>
            <a:r>
              <a:rPr sz="2400" dirty="0" err="1"/>
              <a:t>tracciate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👥 Lavoro </a:t>
            </a:r>
            <a:r>
              <a:rPr sz="2400" dirty="0" err="1"/>
              <a:t>parallelo</a:t>
            </a:r>
            <a:r>
              <a:rPr sz="2400" dirty="0"/>
              <a:t>: la spec è il </a:t>
            </a:r>
            <a:r>
              <a:rPr sz="2400" dirty="0" err="1"/>
              <a:t>contratto</a:t>
            </a:r>
            <a:r>
              <a:rPr lang="it-IT" sz="2400" dirty="0"/>
              <a:t>, ognuno lavora su UC diversi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🔀 Merge </a:t>
            </a:r>
            <a:r>
              <a:rPr sz="2400" dirty="0" err="1"/>
              <a:t>pulito</a:t>
            </a:r>
            <a:r>
              <a:rPr sz="2400" dirty="0"/>
              <a:t>: spec non </a:t>
            </a:r>
            <a:r>
              <a:rPr lang="it-IT" sz="2400" dirty="0"/>
              <a:t>si sovrappongono</a:t>
            </a:r>
            <a:r>
              <a:rPr sz="2400" dirty="0"/>
              <a:t> </a:t>
            </a:r>
            <a:r>
              <a:rPr lang="it-IT" sz="2400" dirty="0"/>
              <a:t>a</a:t>
            </a:r>
            <a:r>
              <a:rPr sz="2400" dirty="0"/>
              <a:t>l </a:t>
            </a:r>
            <a:r>
              <a:rPr sz="2400" dirty="0" err="1"/>
              <a:t>codice</a:t>
            </a:r>
            <a:endParaRPr sz="2400"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sz="2400" dirty="0"/>
              <a:t>• 📋 </a:t>
            </a:r>
            <a:r>
              <a:rPr lang="it-IT" sz="2400" dirty="0"/>
              <a:t>Review efficace: si verifica il codice CONTRO la </a:t>
            </a:r>
            <a:r>
              <a:rPr lang="it-IT" sz="2400" dirty="0" err="1"/>
              <a:t>spec</a:t>
            </a:r>
            <a:r>
              <a:rPr lang="it-IT" sz="2400" dirty="0"/>
              <a:t>, non 'a </a:t>
            </a:r>
            <a:r>
              <a:rPr lang="it-IT" sz="2400" dirty="0" err="1"/>
              <a:t>occhio'</a:t>
            </a:r>
            <a:endParaRPr lang="it-IT"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lang="it-IT" sz="2400" dirty="0">
                <a:highlight>
                  <a:srgbClr val="FFFF00"/>
                </a:highlight>
              </a:rPr>
              <a:t>Il repository diventa la memoria condivisa del team E dell'agente AI.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26355-843E-EAFF-8951-C4875023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18" y="1371600"/>
            <a:ext cx="4565577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86968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1. La spec è il prompt </a:t>
            </a:r>
            <a:r>
              <a:rPr sz="2400" dirty="0" err="1"/>
              <a:t>più</a:t>
            </a:r>
            <a:r>
              <a:rPr sz="2400" dirty="0"/>
              <a:t> </a:t>
            </a:r>
            <a:r>
              <a:rPr sz="2400" dirty="0" err="1"/>
              <a:t>potente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</a:t>
            </a:r>
            <a:r>
              <a:rPr lang="it-IT" sz="2400" dirty="0"/>
              <a:t>(👉🏻</a:t>
            </a:r>
            <a:r>
              <a:rPr sz="2400" dirty="0" err="1"/>
              <a:t>requisiti</a:t>
            </a:r>
            <a:r>
              <a:rPr sz="2400" dirty="0"/>
              <a:t> </a:t>
            </a:r>
            <a:r>
              <a:rPr sz="2400" dirty="0" err="1"/>
              <a:t>chiari</a:t>
            </a:r>
            <a:r>
              <a:rPr sz="2400" dirty="0"/>
              <a:t> </a:t>
            </a:r>
            <a:r>
              <a:rPr lang="it-IT" sz="2400" dirty="0"/>
              <a:t>vs.</a:t>
            </a:r>
            <a:r>
              <a:rPr sz="2400" dirty="0"/>
              <a:t> prompt </a:t>
            </a:r>
            <a:r>
              <a:rPr sz="2400" dirty="0" err="1"/>
              <a:t>complessi</a:t>
            </a:r>
            <a:r>
              <a:rPr lang="it-IT" sz="2400" dirty="0"/>
              <a:t>)</a:t>
            </a:r>
            <a:br>
              <a:rPr lang="it-IT" sz="2400" dirty="0"/>
            </a:b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2. Garbage In, Garbage Out (</a:t>
            </a:r>
            <a:r>
              <a:rPr sz="2400" dirty="0" err="1"/>
              <a:t>velocemente</a:t>
            </a:r>
            <a:r>
              <a:rPr sz="2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3. I guardrails non </a:t>
            </a:r>
            <a:r>
              <a:rPr sz="2400" dirty="0" err="1"/>
              <a:t>limitano</a:t>
            </a:r>
            <a:r>
              <a:rPr sz="2400" dirty="0"/>
              <a:t>, </a:t>
            </a:r>
            <a:r>
              <a:rPr sz="2400" dirty="0" err="1"/>
              <a:t>guidano</a:t>
            </a:r>
            <a:br>
              <a:rPr lang="it-IT" sz="2400" dirty="0"/>
            </a:br>
            <a:r>
              <a:rPr lang="en-US" sz="2400" dirty="0"/>
              <a:t>     (</a:t>
            </a:r>
            <a:r>
              <a:rPr lang="it-IT" sz="2400" dirty="0"/>
              <a:t>👉🏻 </a:t>
            </a:r>
            <a:r>
              <a:rPr lang="en-US" sz="2400" dirty="0" err="1"/>
              <a:t>vincoli</a:t>
            </a:r>
            <a:r>
              <a:rPr lang="en-US" sz="2400" dirty="0"/>
              <a:t> = </a:t>
            </a:r>
            <a:r>
              <a:rPr lang="en-US" sz="2400" dirty="0" err="1"/>
              <a:t>coerenza</a:t>
            </a:r>
            <a:r>
              <a:rPr lang="en-US" sz="2400" dirty="0"/>
              <a:t>)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4. La </a:t>
            </a:r>
            <a:r>
              <a:rPr sz="2400" dirty="0" err="1"/>
              <a:t>scelta</a:t>
            </a:r>
            <a:r>
              <a:rPr sz="2400" dirty="0"/>
              <a:t> del </a:t>
            </a:r>
            <a:r>
              <a:rPr sz="2400" dirty="0" err="1"/>
              <a:t>modello</a:t>
            </a:r>
            <a:r>
              <a:rPr sz="2400" dirty="0"/>
              <a:t> è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competenza</a:t>
            </a:r>
            <a:br>
              <a:rPr lang="it-IT" sz="2400" dirty="0"/>
            </a:br>
            <a:r>
              <a:rPr lang="it-IT" sz="2400" dirty="0"/>
              <a:t>    (👉🏻 </a:t>
            </a:r>
            <a:r>
              <a:rPr lang="en-US" sz="2400" dirty="0"/>
              <a:t>non </a:t>
            </a:r>
            <a:r>
              <a:rPr lang="en-US" sz="2400" dirty="0" err="1"/>
              <a:t>esiste</a:t>
            </a:r>
            <a:r>
              <a:rPr lang="en-US" sz="2400" dirty="0"/>
              <a:t> 'il </a:t>
            </a:r>
            <a:r>
              <a:rPr lang="en-US" sz="2400" dirty="0" err="1"/>
              <a:t>migliore</a:t>
            </a:r>
            <a:r>
              <a:rPr lang="en-US" sz="2400" dirty="0"/>
              <a:t>’)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5. Human-in-the-loop non è un </a:t>
            </a:r>
            <a:r>
              <a:rPr sz="2400" dirty="0" err="1"/>
              <a:t>rallentamento</a:t>
            </a:r>
            <a:br>
              <a:rPr lang="it-IT" sz="2400" dirty="0"/>
            </a:br>
            <a:r>
              <a:rPr lang="it-IT" sz="2400" dirty="0"/>
              <a:t>    (👉🏻 </a:t>
            </a:r>
            <a:r>
              <a:rPr lang="en-US" sz="2400" dirty="0"/>
              <a:t>è </a:t>
            </a:r>
            <a:r>
              <a:rPr lang="en-US" sz="2400" dirty="0" err="1"/>
              <a:t>comprensione</a:t>
            </a:r>
            <a:r>
              <a:rPr lang="en-US" sz="2400" dirty="0"/>
              <a:t>)</a:t>
            </a:r>
            <a:br>
              <a:rPr lang="it-IT" sz="2400" dirty="0"/>
            </a:br>
            <a:br>
              <a:rPr lang="it-IT" sz="2400" dirty="0"/>
            </a:b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7801B-F9F2-1484-B002-CE83BA20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058" y="1976235"/>
            <a:ext cx="4468525" cy="2656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544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Angelo Gaggero</cp:lastModifiedBy>
  <cp:revision>7</cp:revision>
  <dcterms:created xsi:type="dcterms:W3CDTF">2013-01-27T09:14:16Z</dcterms:created>
  <dcterms:modified xsi:type="dcterms:W3CDTF">2026-06-18T12:41:58Z</dcterms:modified>
  <cp:category/>
</cp:coreProperties>
</file>