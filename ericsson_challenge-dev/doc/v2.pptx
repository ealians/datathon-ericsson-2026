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 Prompt Libero a Spec-Driven — Cosa Cambia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Prima: '</a:t>
            </a:r>
            <a:r>
              <a:rPr sz="2400" dirty="0" err="1"/>
              <a:t>Aggiungi</a:t>
            </a:r>
            <a:r>
              <a:rPr sz="2400" dirty="0"/>
              <a:t> </a:t>
            </a:r>
            <a:r>
              <a:rPr sz="2400" dirty="0" err="1"/>
              <a:t>questa</a:t>
            </a:r>
            <a:r>
              <a:rPr sz="2400" dirty="0"/>
              <a:t> feature' → output </a:t>
            </a:r>
            <a:r>
              <a:rPr sz="2400" dirty="0" err="1"/>
              <a:t>imprevedibile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Dopo:  Requirements → Design → Tasks → </a:t>
            </a:r>
            <a:r>
              <a:rPr sz="2400" dirty="0" err="1"/>
              <a:t>Codice</a:t>
            </a:r>
            <a:r>
              <a:rPr sz="2400" dirty="0"/>
              <a:t> → Test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💡 </a:t>
            </a:r>
            <a:r>
              <a:rPr sz="2400" dirty="0" err="1"/>
              <a:t>Momento</a:t>
            </a:r>
            <a:r>
              <a:rPr sz="2400" dirty="0"/>
              <a:t> Aha: MCP Server in 30 </a:t>
            </a:r>
            <a:r>
              <a:rPr sz="2400" dirty="0" err="1"/>
              <a:t>minuti</a:t>
            </a:r>
            <a:r>
              <a:rPr sz="2400" dirty="0"/>
              <a:t>, </a:t>
            </a:r>
            <a:r>
              <a:rPr sz="2400" dirty="0" err="1"/>
              <a:t>funzionante</a:t>
            </a:r>
            <a:r>
              <a:rPr sz="2400" dirty="0"/>
              <a:t>!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 La spec ha </a:t>
            </a:r>
            <a:r>
              <a:rPr sz="2400" dirty="0" err="1"/>
              <a:t>dato</a:t>
            </a:r>
            <a:r>
              <a:rPr sz="2400" dirty="0"/>
              <a:t> a Kiro il </a:t>
            </a:r>
            <a:r>
              <a:rPr sz="2400" dirty="0" err="1"/>
              <a:t>contesto</a:t>
            </a:r>
            <a:r>
              <a:rPr sz="2400" dirty="0"/>
              <a:t> GIUSTO.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 err="1"/>
              <a:t>Risultati</a:t>
            </a:r>
            <a:r>
              <a:rPr sz="2400" dirty="0"/>
              <a:t> in 2,5 </a:t>
            </a:r>
            <a:r>
              <a:rPr sz="2400" dirty="0" err="1"/>
              <a:t>giorni</a:t>
            </a:r>
            <a:r>
              <a:rPr sz="2400" dirty="0"/>
              <a:t>: 6 UC, 12 vuln </a:t>
            </a:r>
            <a:r>
              <a:rPr sz="2400" dirty="0" err="1"/>
              <a:t>risolte</a:t>
            </a:r>
            <a:r>
              <a:rPr sz="2400" dirty="0"/>
              <a:t>,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4 MCP server, 8 </a:t>
            </a:r>
            <a:r>
              <a:rPr sz="2400" dirty="0" err="1"/>
              <a:t>agenti</a:t>
            </a:r>
            <a:r>
              <a:rPr sz="2400" dirty="0"/>
              <a:t> </a:t>
            </a:r>
            <a:r>
              <a:rPr sz="2400" dirty="0" err="1"/>
              <a:t>definiti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Stima: </a:t>
            </a:r>
            <a:r>
              <a:rPr sz="2400" dirty="0" err="1"/>
              <a:t>settimane</a:t>
            </a:r>
            <a:r>
              <a:rPr sz="2400" dirty="0"/>
              <a:t> di </a:t>
            </a:r>
            <a:r>
              <a:rPr sz="2400" dirty="0" err="1"/>
              <a:t>lavoro</a:t>
            </a:r>
            <a:r>
              <a:rPr sz="2400" dirty="0"/>
              <a:t> </a:t>
            </a:r>
            <a:r>
              <a:rPr sz="2400" dirty="0" err="1"/>
              <a:t>compresse</a:t>
            </a:r>
            <a:r>
              <a:rPr sz="2400" dirty="0"/>
              <a:t>.</a:t>
            </a:r>
          </a:p>
        </p:txBody>
      </p:sp>
      <p:pic>
        <p:nvPicPr>
          <p:cNvPr id="1026" name="Picture 2" descr="The Blues Brothers citazioni e dialoghi | non son solo film - John Landis">
            <a:extLst>
              <a:ext uri="{FF2B5EF4-FFF2-40B4-BE49-F238E27FC236}">
                <a16:creationId xmlns:a16="http://schemas.microsoft.com/office/drawing/2014/main" id="{8E3A6852-6227-82B9-4F3C-55C9ED2E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319" y="3637480"/>
            <a:ext cx="3190241" cy="168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Governance — Controllo senza Burocrazia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✋ Mai </a:t>
            </a:r>
            <a:r>
              <a:rPr sz="2400" dirty="0" err="1"/>
              <a:t>usato</a:t>
            </a:r>
            <a:r>
              <a:rPr sz="2400" dirty="0"/>
              <a:t> 't' (trust all) — sempre human-in-the-loop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✋ Two-step approval sempre </a:t>
            </a:r>
            <a:r>
              <a:rPr sz="2400" dirty="0" err="1"/>
              <a:t>attivo</a:t>
            </a:r>
            <a:r>
              <a:rPr sz="2400" dirty="0"/>
              <a:t> per query DB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 guardrails </a:t>
            </a:r>
            <a:r>
              <a:rPr sz="2400" dirty="0" err="1"/>
              <a:t>hanno</a:t>
            </a:r>
            <a:r>
              <a:rPr sz="2400" dirty="0"/>
              <a:t> </a:t>
            </a:r>
            <a:r>
              <a:rPr sz="2400" dirty="0" err="1"/>
              <a:t>guidato</a:t>
            </a:r>
            <a:r>
              <a:rPr sz="2400" dirty="0"/>
              <a:t> lo </a:t>
            </a:r>
            <a:r>
              <a:rPr sz="2400" dirty="0" err="1"/>
              <a:t>sviluppo</a:t>
            </a:r>
            <a:r>
              <a:rPr sz="2400" dirty="0"/>
              <a:t>: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</a:t>
            </a:r>
            <a:r>
              <a:rPr sz="2400" dirty="0" err="1"/>
              <a:t>Nessuna</a:t>
            </a:r>
            <a:r>
              <a:rPr sz="2400" dirty="0"/>
              <a:t> </a:t>
            </a:r>
            <a:r>
              <a:rPr sz="2400" dirty="0" err="1"/>
              <a:t>dipendenza</a:t>
            </a:r>
            <a:r>
              <a:rPr sz="2400" dirty="0"/>
              <a:t> senza </a:t>
            </a:r>
            <a:r>
              <a:rPr sz="2400" dirty="0" err="1"/>
              <a:t>approvazione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</a:t>
            </a:r>
            <a:r>
              <a:rPr sz="2400" dirty="0" err="1"/>
              <a:t>Credenziali</a:t>
            </a:r>
            <a:r>
              <a:rPr sz="2400" dirty="0"/>
              <a:t> </a:t>
            </a:r>
            <a:r>
              <a:rPr sz="2400" dirty="0" err="1"/>
              <a:t>mai</a:t>
            </a:r>
            <a:r>
              <a:rPr sz="2400" dirty="0"/>
              <a:t> </a:t>
            </a:r>
            <a:r>
              <a:rPr sz="2400" dirty="0" err="1"/>
              <a:t>nel</a:t>
            </a:r>
            <a:r>
              <a:rPr sz="2400" dirty="0"/>
              <a:t> </a:t>
            </a:r>
            <a:r>
              <a:rPr sz="2400" dirty="0" err="1"/>
              <a:t>codice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• Pattern </a:t>
            </a:r>
            <a:r>
              <a:rPr sz="2400" dirty="0" err="1"/>
              <a:t>architetturale</a:t>
            </a:r>
            <a:r>
              <a:rPr sz="2400" dirty="0"/>
              <a:t> </a:t>
            </a:r>
            <a:r>
              <a:rPr sz="2400" dirty="0" err="1"/>
              <a:t>preservato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Non </a:t>
            </a:r>
            <a:r>
              <a:rPr sz="2400" dirty="0" err="1"/>
              <a:t>limitano</a:t>
            </a:r>
            <a:r>
              <a:rPr sz="2400" dirty="0"/>
              <a:t> — </a:t>
            </a:r>
            <a:r>
              <a:rPr sz="2400" dirty="0" err="1"/>
              <a:t>prevengono</a:t>
            </a:r>
            <a:r>
              <a:rPr sz="2400" dirty="0"/>
              <a:t> le derive.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Il team </a:t>
            </a:r>
            <a:r>
              <a:rPr sz="2400" dirty="0" err="1"/>
              <a:t>mantiene</a:t>
            </a:r>
            <a:r>
              <a:rPr sz="2400" dirty="0"/>
              <a:t> </a:t>
            </a:r>
            <a:r>
              <a:rPr sz="2400" dirty="0" err="1"/>
              <a:t>controllo</a:t>
            </a:r>
            <a:r>
              <a:rPr sz="2400" dirty="0"/>
              <a:t> </a:t>
            </a:r>
            <a:r>
              <a:rPr sz="2400" dirty="0" err="1"/>
              <a:t>su</a:t>
            </a:r>
            <a:r>
              <a:rPr sz="2400" dirty="0"/>
              <a:t> ogni </a:t>
            </a:r>
            <a:r>
              <a:rPr sz="2400" dirty="0" err="1"/>
              <a:t>decisione</a:t>
            </a:r>
            <a:r>
              <a:rPr sz="2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D68FE-3467-2C38-5198-3DD41E951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609" y="4118970"/>
            <a:ext cx="3705742" cy="19719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4C50FE-6D67-AF86-4983-06193615367A}"/>
              </a:ext>
            </a:extLst>
          </p:cNvPr>
          <p:cNvSpPr/>
          <p:nvPr/>
        </p:nvSpPr>
        <p:spPr>
          <a:xfrm>
            <a:off x="7969542" y="4181615"/>
            <a:ext cx="957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00B050"/>
                </a:solidFill>
                <a:effectLst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2DD46-FFF9-0B43-1256-8C8D87E79FED}"/>
              </a:ext>
            </a:extLst>
          </p:cNvPr>
          <p:cNvSpPr txBox="1"/>
          <p:nvPr/>
        </p:nvSpPr>
        <p:spPr>
          <a:xfrm>
            <a:off x="8197183" y="445861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❌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Quando l'AI Sbaglia — E Cosa Abbiamo Imparato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Problemi</a:t>
            </a:r>
            <a:r>
              <a:rPr sz="2400" dirty="0"/>
              <a:t> di environment (JDK 25 vs Lombok)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L'AI non </a:t>
            </a:r>
            <a:r>
              <a:rPr sz="2400" dirty="0" err="1"/>
              <a:t>conosce</a:t>
            </a:r>
            <a:r>
              <a:rPr sz="2400" dirty="0"/>
              <a:t> il TUO </a:t>
            </a:r>
            <a:r>
              <a:rPr sz="2400" dirty="0" err="1"/>
              <a:t>ambiente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Requisiti</a:t>
            </a:r>
            <a:r>
              <a:rPr sz="2400" dirty="0"/>
              <a:t> </a:t>
            </a:r>
            <a:r>
              <a:rPr sz="2400" dirty="0" err="1"/>
              <a:t>mancanti</a:t>
            </a:r>
            <a:r>
              <a:rPr sz="2400" dirty="0"/>
              <a:t> (</a:t>
            </a:r>
            <a:r>
              <a:rPr sz="2400" dirty="0" err="1"/>
              <a:t>createFirstUser</a:t>
            </a:r>
            <a:r>
              <a:rPr sz="2400" dirty="0"/>
              <a:t> senza check)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L'AI non </a:t>
            </a:r>
            <a:r>
              <a:rPr sz="2400" dirty="0" err="1"/>
              <a:t>inventa</a:t>
            </a:r>
            <a:r>
              <a:rPr sz="2400" dirty="0"/>
              <a:t> business logic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⚠️ </a:t>
            </a:r>
            <a:r>
              <a:rPr sz="2400" dirty="0" err="1"/>
              <a:t>Qualità</a:t>
            </a:r>
            <a:r>
              <a:rPr sz="2400" dirty="0"/>
              <a:t> </a:t>
            </a:r>
            <a:r>
              <a:rPr sz="2400" dirty="0" err="1"/>
              <a:t>variabile</a:t>
            </a:r>
            <a:r>
              <a:rPr sz="2400" dirty="0"/>
              <a:t> per </a:t>
            </a:r>
            <a:r>
              <a:rPr sz="2400" dirty="0" err="1"/>
              <a:t>modello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Switch a Claude 4.6: output </a:t>
            </a:r>
            <a:r>
              <a:rPr sz="2400" dirty="0" err="1"/>
              <a:t>più</a:t>
            </a:r>
            <a:r>
              <a:rPr sz="2400" dirty="0"/>
              <a:t> </a:t>
            </a:r>
            <a:r>
              <a:rPr sz="2400" dirty="0" err="1"/>
              <a:t>preciso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 err="1"/>
              <a:t>Lezione</a:t>
            </a:r>
            <a:r>
              <a:rPr sz="2400" dirty="0"/>
              <a:t>: </a:t>
            </a:r>
            <a:r>
              <a:rPr sz="2400" dirty="0" err="1"/>
              <a:t>l'AI</a:t>
            </a:r>
            <a:r>
              <a:rPr sz="2400" dirty="0"/>
              <a:t> </a:t>
            </a:r>
            <a:r>
              <a:rPr sz="2400" dirty="0" err="1"/>
              <a:t>amplifica</a:t>
            </a:r>
            <a:r>
              <a:rPr sz="2400" dirty="0"/>
              <a:t> la </a:t>
            </a:r>
            <a:r>
              <a:rPr sz="2400" dirty="0" err="1"/>
              <a:t>qualità</a:t>
            </a:r>
            <a:r>
              <a:rPr sz="2400" dirty="0"/>
              <a:t> </a:t>
            </a:r>
            <a:r>
              <a:rPr sz="2400" dirty="0" err="1"/>
              <a:t>dell'input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Spec </a:t>
            </a:r>
            <a:r>
              <a:rPr sz="2400" dirty="0" err="1"/>
              <a:t>chiara</a:t>
            </a:r>
            <a:r>
              <a:rPr sz="2400" dirty="0"/>
              <a:t> = </a:t>
            </a:r>
            <a:r>
              <a:rPr sz="2400" dirty="0" err="1"/>
              <a:t>codice</a:t>
            </a:r>
            <a:r>
              <a:rPr sz="2400" dirty="0"/>
              <a:t> </a:t>
            </a:r>
            <a:r>
              <a:rPr sz="2400" dirty="0" err="1"/>
              <a:t>buono</a:t>
            </a:r>
            <a:r>
              <a:rPr sz="2400" dirty="0"/>
              <a:t>. Spec </a:t>
            </a:r>
            <a:r>
              <a:rPr sz="2400" dirty="0" err="1"/>
              <a:t>vaga</a:t>
            </a:r>
            <a:r>
              <a:rPr sz="2400" dirty="0"/>
              <a:t> = bug veloce.</a:t>
            </a:r>
          </a:p>
        </p:txBody>
      </p:sp>
      <p:pic>
        <p:nvPicPr>
          <p:cNvPr id="2050" name="Picture 2" descr="L'IA può sbagliare, ma chi è davvero il riflesso di chi?">
            <a:extLst>
              <a:ext uri="{FF2B5EF4-FFF2-40B4-BE49-F238E27FC236}">
                <a16:creationId xmlns:a16="http://schemas.microsoft.com/office/drawing/2014/main" id="{647C8DA8-EEF5-9D2C-A1F0-A5A18F934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840" y="3315334"/>
            <a:ext cx="4184792" cy="2353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Due UC a Confronto — Approcci Diversi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229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🔒 UC-S-003 — </a:t>
            </a:r>
            <a:r>
              <a:rPr sz="2400" dirty="0" err="1"/>
              <a:t>createFirstUser</a:t>
            </a:r>
            <a:r>
              <a:rPr sz="2400" dirty="0"/>
              <a:t> </a:t>
            </a:r>
            <a:r>
              <a:rPr sz="2400" dirty="0" err="1"/>
              <a:t>pubblico</a:t>
            </a:r>
            <a:r>
              <a:rPr sz="2400" dirty="0"/>
              <a:t> (Security)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</a:t>
            </a:r>
            <a:r>
              <a:rPr sz="2400" dirty="0" err="1"/>
              <a:t>Manuale</a:t>
            </a:r>
            <a:r>
              <a:rPr sz="2400" dirty="0"/>
              <a:t> spec/prompt + agent in </a:t>
            </a:r>
            <a:r>
              <a:rPr sz="2400" dirty="0" err="1"/>
              <a:t>parallelo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Agent produce </a:t>
            </a:r>
            <a:r>
              <a:rPr sz="2400" dirty="0" err="1"/>
              <a:t>risultato</a:t>
            </a:r>
            <a:r>
              <a:rPr sz="2400" dirty="0"/>
              <a:t> </a:t>
            </a:r>
            <a:r>
              <a:rPr sz="2400" dirty="0" err="1"/>
              <a:t>equivalente</a:t>
            </a:r>
            <a:r>
              <a:rPr sz="2400" dirty="0"/>
              <a:t> in 1/10 del tempo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📊 UC-MCP-003 — Metrics + Vulnerability Pipeline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Full agent: vuln analysis → report pre-fix →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bugfix → report post-fix → Prometheus stats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→ </a:t>
            </a:r>
            <a:r>
              <a:rPr sz="2400" dirty="0" err="1"/>
              <a:t>Dall'idea</a:t>
            </a:r>
            <a:r>
              <a:rPr sz="2400" dirty="0"/>
              <a:t> al server </a:t>
            </a:r>
            <a:r>
              <a:rPr sz="2400" dirty="0" err="1"/>
              <a:t>funzionante</a:t>
            </a:r>
            <a:r>
              <a:rPr sz="2400" dirty="0"/>
              <a:t> in tempi record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 err="1"/>
              <a:t>L'agent</a:t>
            </a:r>
            <a:r>
              <a:rPr sz="2400" dirty="0"/>
              <a:t> </a:t>
            </a:r>
            <a:r>
              <a:rPr sz="2400" dirty="0" err="1"/>
              <a:t>eccelle</a:t>
            </a:r>
            <a:r>
              <a:rPr sz="2400" dirty="0"/>
              <a:t> con pipeline </a:t>
            </a:r>
            <a:r>
              <a:rPr sz="2400" dirty="0" err="1"/>
              <a:t>chiare</a:t>
            </a:r>
            <a:r>
              <a:rPr sz="2400" dirty="0"/>
              <a:t> e </a:t>
            </a:r>
            <a:r>
              <a:rPr sz="2400" dirty="0" err="1"/>
              <a:t>sequenziali</a:t>
            </a:r>
            <a:r>
              <a:rPr sz="2400" dirty="0"/>
              <a:t>.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Il </a:t>
            </a:r>
            <a:r>
              <a:rPr sz="2400" dirty="0" err="1"/>
              <a:t>controllo</a:t>
            </a:r>
            <a:r>
              <a:rPr sz="2400" dirty="0"/>
              <a:t> </a:t>
            </a:r>
            <a:r>
              <a:rPr sz="2400" dirty="0" err="1"/>
              <a:t>umano</a:t>
            </a:r>
            <a:r>
              <a:rPr sz="2400" dirty="0"/>
              <a:t> </a:t>
            </a:r>
            <a:r>
              <a:rPr sz="2400" dirty="0" err="1"/>
              <a:t>valida</a:t>
            </a:r>
            <a:r>
              <a:rPr sz="2400" dirty="0"/>
              <a:t> </a:t>
            </a:r>
            <a:r>
              <a:rPr sz="2400" dirty="0" err="1"/>
              <a:t>requisiti</a:t>
            </a:r>
            <a:r>
              <a:rPr sz="2400" dirty="0"/>
              <a:t>, non scrive </a:t>
            </a:r>
            <a:r>
              <a:rPr sz="2400" dirty="0" err="1"/>
              <a:t>codice</a:t>
            </a:r>
            <a:r>
              <a:rPr sz="2400" dirty="0"/>
              <a:t>.</a:t>
            </a:r>
          </a:p>
        </p:txBody>
      </p:sp>
      <p:pic>
        <p:nvPicPr>
          <p:cNvPr id="3074" name="Picture 2" descr="Menu Del Ristorante Con Il Listino Prezzi E La Forcella Illustrazione ...">
            <a:extLst>
              <a:ext uri="{FF2B5EF4-FFF2-40B4-BE49-F238E27FC236}">
                <a16:creationId xmlns:a16="http://schemas.microsoft.com/office/drawing/2014/main" id="{CD62EF7D-5951-48C8-40D3-8E29F2CAA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758" y="2543353"/>
            <a:ext cx="3589081" cy="294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Spec-Driven = Collaborazione Naturale con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54888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Le spec .</a:t>
            </a:r>
            <a:r>
              <a:rPr sz="2400" dirty="0" err="1"/>
              <a:t>kiro</a:t>
            </a:r>
            <a:r>
              <a:rPr sz="2400" dirty="0"/>
              <a:t>/ </a:t>
            </a:r>
            <a:r>
              <a:rPr sz="2400" dirty="0" err="1"/>
              <a:t>sono</a:t>
            </a:r>
            <a:r>
              <a:rPr sz="2400" dirty="0"/>
              <a:t> file di testo </a:t>
            </a:r>
            <a:r>
              <a:rPr sz="2400" dirty="0" err="1"/>
              <a:t>nel</a:t>
            </a:r>
            <a:r>
              <a:rPr sz="2400" dirty="0"/>
              <a:t> repository: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git push → </a:t>
            </a:r>
            <a:r>
              <a:rPr sz="2400" dirty="0" err="1"/>
              <a:t>condividi</a:t>
            </a:r>
            <a:r>
              <a:rPr sz="2400" dirty="0"/>
              <a:t> </a:t>
            </a:r>
            <a:r>
              <a:rPr sz="2400" dirty="0" err="1"/>
              <a:t>requisiti</a:t>
            </a:r>
            <a:r>
              <a:rPr sz="2400" dirty="0"/>
              <a:t>, design, guardrails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git pull → </a:t>
            </a:r>
            <a:r>
              <a:rPr sz="2400" dirty="0" err="1"/>
              <a:t>contesto</a:t>
            </a:r>
            <a:r>
              <a:rPr sz="2400" dirty="0"/>
              <a:t> </a:t>
            </a:r>
            <a:r>
              <a:rPr sz="2400" dirty="0" err="1"/>
              <a:t>aggiornato</a:t>
            </a:r>
            <a:r>
              <a:rPr sz="2400" dirty="0"/>
              <a:t> per </a:t>
            </a:r>
            <a:r>
              <a:rPr sz="2400" dirty="0" err="1"/>
              <a:t>tutto</a:t>
            </a:r>
            <a:r>
              <a:rPr sz="2400" dirty="0"/>
              <a:t> il team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🤞 Configuration control: </a:t>
            </a:r>
            <a:r>
              <a:rPr sz="2400" dirty="0" err="1"/>
              <a:t>decisioni</a:t>
            </a:r>
            <a:r>
              <a:rPr sz="2400" dirty="0"/>
              <a:t> </a:t>
            </a:r>
            <a:r>
              <a:rPr sz="2400" dirty="0" err="1"/>
              <a:t>tracciate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👥 Lavoro </a:t>
            </a:r>
            <a:r>
              <a:rPr sz="2400" dirty="0" err="1"/>
              <a:t>parallelo</a:t>
            </a:r>
            <a:r>
              <a:rPr sz="2400" dirty="0"/>
              <a:t>: la spec è il </a:t>
            </a:r>
            <a:r>
              <a:rPr sz="2400" dirty="0" err="1"/>
              <a:t>contratto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🔀 Merge </a:t>
            </a:r>
            <a:r>
              <a:rPr sz="2400" dirty="0" err="1"/>
              <a:t>pulito</a:t>
            </a:r>
            <a:r>
              <a:rPr sz="2400" dirty="0"/>
              <a:t>: spec non </a:t>
            </a:r>
            <a:r>
              <a:rPr sz="2400" dirty="0" err="1"/>
              <a:t>conflittano</a:t>
            </a:r>
            <a:r>
              <a:rPr sz="2400" dirty="0"/>
              <a:t> col </a:t>
            </a:r>
            <a:r>
              <a:rPr sz="2400" dirty="0" err="1"/>
              <a:t>codice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• 📋 Review vs spec, non 'a </a:t>
            </a:r>
            <a:r>
              <a:rPr sz="2400" dirty="0" err="1"/>
              <a:t>occhio</a:t>
            </a:r>
            <a:r>
              <a:rPr sz="2400" dirty="0"/>
              <a:t>'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Il repo è la memoria del team E </a:t>
            </a:r>
            <a:r>
              <a:rPr sz="2400" dirty="0" err="1"/>
              <a:t>dell'agente</a:t>
            </a:r>
            <a:r>
              <a:rPr sz="2400" dirty="0"/>
              <a:t> AI.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26355-843E-EAFF-8951-C4875023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745" y="1874520"/>
            <a:ext cx="4565577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869680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1. La spec è il prompt </a:t>
            </a:r>
            <a:r>
              <a:rPr sz="2400" dirty="0" err="1"/>
              <a:t>più</a:t>
            </a:r>
            <a:r>
              <a:rPr sz="2400" dirty="0"/>
              <a:t> </a:t>
            </a:r>
            <a:r>
              <a:rPr sz="2400" dirty="0" err="1"/>
              <a:t>potente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   — </a:t>
            </a:r>
            <a:r>
              <a:rPr sz="2400" dirty="0" err="1"/>
              <a:t>requisiti</a:t>
            </a:r>
            <a:r>
              <a:rPr sz="2400" dirty="0"/>
              <a:t> </a:t>
            </a:r>
            <a:r>
              <a:rPr sz="2400" dirty="0" err="1"/>
              <a:t>chiari</a:t>
            </a:r>
            <a:r>
              <a:rPr sz="2400" dirty="0"/>
              <a:t> &gt; prompt </a:t>
            </a:r>
            <a:r>
              <a:rPr sz="2400" dirty="0" err="1"/>
              <a:t>complessi</a:t>
            </a:r>
            <a:br>
              <a:rPr lang="it-IT" sz="2400" dirty="0"/>
            </a:b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2400" dirty="0"/>
              <a:t>2. Garbage In, Garbage Out (</a:t>
            </a:r>
            <a:r>
              <a:rPr sz="2400" dirty="0" err="1"/>
              <a:t>velocemente</a:t>
            </a:r>
            <a:r>
              <a:rPr sz="2400"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3. I guardrails non </a:t>
            </a:r>
            <a:r>
              <a:rPr sz="2400" dirty="0" err="1"/>
              <a:t>limitano</a:t>
            </a:r>
            <a:r>
              <a:rPr sz="2400" dirty="0"/>
              <a:t>, </a:t>
            </a:r>
            <a:r>
              <a:rPr sz="2400" dirty="0" err="1"/>
              <a:t>guidano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4. La </a:t>
            </a:r>
            <a:r>
              <a:rPr sz="2400" dirty="0" err="1"/>
              <a:t>scelta</a:t>
            </a:r>
            <a:r>
              <a:rPr sz="2400" dirty="0"/>
              <a:t> del </a:t>
            </a:r>
            <a:r>
              <a:rPr sz="2400" dirty="0" err="1"/>
              <a:t>modello</a:t>
            </a:r>
            <a:r>
              <a:rPr sz="2400" dirty="0"/>
              <a:t> è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competenza</a:t>
            </a:r>
            <a:endParaRPr sz="2400" dirty="0"/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br>
              <a:rPr lang="it-IT" sz="2400" dirty="0"/>
            </a:br>
            <a:r>
              <a:rPr sz="2400" dirty="0"/>
              <a:t>5. Human-in-the-loop non è un </a:t>
            </a:r>
            <a:r>
              <a:rPr sz="2400" dirty="0" err="1"/>
              <a:t>rallentamento</a:t>
            </a:r>
            <a:br>
              <a:rPr lang="it-IT" sz="2400" dirty="0"/>
            </a:br>
            <a:br>
              <a:rPr lang="it-IT" sz="2400" dirty="0"/>
            </a:b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7801B-F9F2-1484-B002-CE83BA20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058" y="1976235"/>
            <a:ext cx="4468525" cy="2656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451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Angelo Gaggero</cp:lastModifiedBy>
  <cp:revision>4</cp:revision>
  <dcterms:created xsi:type="dcterms:W3CDTF">2013-01-27T09:14:16Z</dcterms:created>
  <dcterms:modified xsi:type="dcterms:W3CDTF">2026-06-18T12:29:41Z</dcterms:modified>
  <cp:category/>
</cp:coreProperties>
</file>